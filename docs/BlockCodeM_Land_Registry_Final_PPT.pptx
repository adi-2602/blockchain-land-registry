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3e3609c2-bc68-c3fc-7a70-b886245e4cee}">
          <p14:sldIdLst>
            <p14:sldId id="256"/>
            <p14:sldId id="257"/>
            <p14:sldId id="258"/>
            <p14:sldId id="259"/>
          </p14:sldIdLst>
        </p14:section>
        <p14:section name="Design" id="{e088d396-a299-94dd-2c85-c7a04c70a10f}">
          <p14:sldIdLst>
            <p14:sldId id="260"/>
            <p14:sldId id="261"/>
            <p14:sldId id="262"/>
            <p14:sldId id="263"/>
            <p14:sldId id="264"/>
          </p14:sldIdLst>
        </p14:section>
        <p14:section name="Implementation and results" id="{a22aac54-7aab-67ee-470c-e212bdd51889}">
          <p14:sldIdLst>
            <p14:sldId id="265"/>
            <p14:sldId id="266"/>
            <p14:sldId id="267"/>
            <p14:sldId id="268"/>
            <p14:sldId id="269"/>
          </p14:sldIdLst>
        </p14:section>
        <p14:section name="Conclusion" id="{df0cca56-87a8-647b-ce6b-4bd431b7c0c7}">
          <p14:sldIdLst>
            <p14:sldId id="270"/>
            <p14:sldId id="27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93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E293B"/>
                </a:solidFill>
                <a:latin typeface="+mn-lt"/>
              </a:rPr>
              <a:t>Average API response time, ms (n = 30)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latency (ms)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Register</c:v>
                  </c:pt>
                  <c:pt idx="1">
                    <c:v>Transfer</c:v>
                  </c:pt>
                  <c:pt idx="2">
                    <c:v>History</c:v>
                  </c:pt>
                  <c:pt idx="3">
                    <c:v>Verify OK</c:v>
                  </c:pt>
                  <c:pt idx="4">
                    <c:v>Verify tampered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117.1</c:v>
                </c:pt>
                <c:pt idx="1">
                  <c:v>114.4</c:v>
                </c:pt>
                <c:pt idx="2">
                  <c:v>15.2</c:v>
                </c:pt>
                <c:pt idx="3">
                  <c:v>15.7</c:v>
                </c:pt>
                <c:pt idx="4">
                  <c:v>15.4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project: a land registry where ownership records live on Ethereum and documents live in the cloud.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 statement: record land ownership and transactions securely on blockchain, keep documents off-chain, and give a transparent ownership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on the local Hardhat/Ganache chain with automine. Cloud upload time is excluded. Reads are free eth_call requests, so they are much faster than writes. On a public network write latency would be about one block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BD5E1"/>
                </a:solidFill>
              </a:defRPr>
            </a:lvl1pPr>
          </a:lstStyle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Subtitle</a:t>
            </a: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</a:t>
            </a: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BlockCodeM  ·  Blockchain Land Registry  ·  SRMIST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Blockchain-Based Land Registry System</a:t>
            </a:r>
            <a:endParaRPr lang="en-US" sz="40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Tamper-proof land records with Ethereum smart contracts and cloud storage</a:t>
            </a:r>
            <a:endParaRPr lang="en-US" sz="1800" dirty="0"/>
          </a:p>
        </p:txBody>
      </p:sp>
      <p:sp>
        <p:nvSpPr>
          <p:cNvPr id="5" name="Team"/>
          <p:cNvSpPr txBox="1"/>
          <p:nvPr/>
        </p:nvSpPr>
        <p:spPr>
          <a:xfrm>
            <a:off x="548640" y="32918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Team BlockCodeM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Aditya Dhabhai  ·  RA2512055010013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</a:rPr>
              <a:t>Ishan Roy Barman  ·  RA2512055010018</a:t>
            </a:r>
            <a:endParaRPr lang="en-US" sz="1600" dirty="0"/>
          </a:p>
        </p:txBody>
      </p:sp>
      <p:sp>
        <p:nvSpPr>
          <p:cNvPr id="6" name="Review details"/>
          <p:cNvSpPr txBox="1"/>
          <p:nvPr/>
        </p:nvSpPr>
        <p:spPr>
          <a:xfrm>
            <a:off x="4206240" y="32918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Final Project Review  ·  11 November 2026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Guide: Kavi Priya D</a:t>
            </a:r>
            <a:endParaRPr lang="en-US" sz="1300" dirty="0"/>
          </a:p>
          <a:p>
            <a:pPr algn="r"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Cloud Computing and Blockchain · M.Tech CSE · SRMIST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Problem: centralised land records can be tampered</a:t>
            </a:r>
            <a:endParaRPr lang="en-US" sz="2800" dirty="0"/>
          </a:p>
        </p:txBody>
      </p:sp>
      <p:sp>
        <p:nvSpPr>
          <p:cNvPr id="3" name="Problem card 1"/>
          <p:cNvSpPr/>
          <p:nvPr/>
        </p:nvSpPr>
        <p:spPr>
          <a:xfrm>
            <a:off x="45720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Problem 1 circle"/>
          <p:cNvSpPr/>
          <p:nvPr/>
        </p:nvSpPr>
        <p:spPr>
          <a:xfrm>
            <a:off x="73152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5" name="Problem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338" y="1741018"/>
            <a:ext cx="358445" cy="358445"/>
          </a:xfrm>
          <a:prstGeom prst="rect">
            <a:avLst/>
          </a:prstGeom>
        </p:spPr>
      </p:pic>
      <p:sp>
        <p:nvSpPr>
          <p:cNvPr id="6" name="Problem 1 title"/>
          <p:cNvSpPr txBox="1"/>
          <p:nvPr/>
        </p:nvSpPr>
        <p:spPr>
          <a:xfrm>
            <a:off x="155448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Insider edits</a:t>
            </a:r>
            <a:endParaRPr lang="en-US" sz="1800" dirty="0"/>
          </a:p>
        </p:txBody>
      </p:sp>
      <p:sp>
        <p:nvSpPr>
          <p:cNvPr id="7" name="Problem 1 text"/>
          <p:cNvSpPr txBox="1"/>
          <p:nvPr/>
        </p:nvSpPr>
        <p:spPr>
          <a:xfrm>
            <a:off x="1554480" y="1847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Admins can change ownership data with no reliable audit trail</a:t>
            </a:r>
            <a:endParaRPr lang="en-US" sz="1400" dirty="0"/>
          </a:p>
        </p:txBody>
      </p:sp>
      <p:sp>
        <p:nvSpPr>
          <p:cNvPr id="8" name="Problem card 2"/>
          <p:cNvSpPr/>
          <p:nvPr/>
        </p:nvSpPr>
        <p:spPr>
          <a:xfrm>
            <a:off x="4663440" y="118872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Problem 2 circle"/>
          <p:cNvSpPr/>
          <p:nvPr/>
        </p:nvSpPr>
        <p:spPr>
          <a:xfrm>
            <a:off x="4937760" y="160020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Problem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8578" y="1741018"/>
            <a:ext cx="358445" cy="358445"/>
          </a:xfrm>
          <a:prstGeom prst="rect">
            <a:avLst/>
          </a:prstGeom>
        </p:spPr>
      </p:pic>
      <p:sp>
        <p:nvSpPr>
          <p:cNvPr id="11" name="Problem 2 title"/>
          <p:cNvSpPr txBox="1"/>
          <p:nvPr/>
        </p:nvSpPr>
        <p:spPr>
          <a:xfrm>
            <a:off x="5760720" y="14173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Forged deeds</a:t>
            </a:r>
            <a:endParaRPr lang="en-US" sz="1800" dirty="0"/>
          </a:p>
        </p:txBody>
      </p:sp>
      <p:sp>
        <p:nvSpPr>
          <p:cNvPr id="12" name="Problem 2 text"/>
          <p:cNvSpPr txBox="1"/>
          <p:nvPr/>
        </p:nvSpPr>
        <p:spPr>
          <a:xfrm>
            <a:off x="5760720" y="184708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Edited sale deeds are hard to spot, enabling double-selling</a:t>
            </a:r>
            <a:endParaRPr lang="en-US" sz="1400" dirty="0"/>
          </a:p>
        </p:txBody>
      </p:sp>
      <p:sp>
        <p:nvSpPr>
          <p:cNvPr id="13" name="Problem card 3"/>
          <p:cNvSpPr/>
          <p:nvPr/>
        </p:nvSpPr>
        <p:spPr>
          <a:xfrm>
            <a:off x="45720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Problem 3 circle"/>
          <p:cNvSpPr/>
          <p:nvPr/>
        </p:nvSpPr>
        <p:spPr>
          <a:xfrm>
            <a:off x="731520" y="3291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Problem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338" y="3432658"/>
            <a:ext cx="358445" cy="358445"/>
          </a:xfrm>
          <a:prstGeom prst="rect">
            <a:avLst/>
          </a:prstGeom>
        </p:spPr>
      </p:pic>
      <p:sp>
        <p:nvSpPr>
          <p:cNvPr id="16" name="Problem 3 title"/>
          <p:cNvSpPr txBox="1"/>
          <p:nvPr/>
        </p:nvSpPr>
        <p:spPr>
          <a:xfrm>
            <a:off x="155448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Opaque history</a:t>
            </a:r>
            <a:endParaRPr lang="en-US" sz="1800" dirty="0"/>
          </a:p>
        </p:txBody>
      </p:sp>
      <p:sp>
        <p:nvSpPr>
          <p:cNvPr id="17" name="Problem 3 text"/>
          <p:cNvSpPr txBox="1"/>
          <p:nvPr/>
        </p:nvSpPr>
        <p:spPr>
          <a:xfrm>
            <a:off x="1554480" y="35387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Chain of title is scattered across paper registers</a:t>
            </a:r>
            <a:endParaRPr lang="en-US" sz="1400" dirty="0"/>
          </a:p>
        </p:txBody>
      </p:sp>
      <p:sp>
        <p:nvSpPr>
          <p:cNvPr id="18" name="Problem card 4"/>
          <p:cNvSpPr/>
          <p:nvPr/>
        </p:nvSpPr>
        <p:spPr>
          <a:xfrm>
            <a:off x="4663440" y="2880360"/>
            <a:ext cx="40233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Problem 4 circle"/>
          <p:cNvSpPr/>
          <p:nvPr/>
        </p:nvSpPr>
        <p:spPr>
          <a:xfrm>
            <a:off x="4937760" y="3291840"/>
            <a:ext cx="640080" cy="640080"/>
          </a:xfrm>
          <a:prstGeom prst="ellipse">
            <a:avLst/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0" name="Problem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8578" y="3432658"/>
            <a:ext cx="358445" cy="358445"/>
          </a:xfrm>
          <a:prstGeom prst="rect">
            <a:avLst/>
          </a:prstGeom>
        </p:spPr>
      </p:pic>
      <p:sp>
        <p:nvSpPr>
          <p:cNvPr id="21" name="Problem 4 title"/>
          <p:cNvSpPr txBox="1"/>
          <p:nvPr/>
        </p:nvSpPr>
        <p:spPr>
          <a:xfrm>
            <a:off x="5760720" y="31089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Single point of failure</a:t>
            </a:r>
            <a:endParaRPr lang="en-US" sz="1800" dirty="0"/>
          </a:p>
        </p:txBody>
      </p:sp>
      <p:sp>
        <p:nvSpPr>
          <p:cNvPr id="22" name="Problem 4 text"/>
          <p:cNvSpPr txBox="1"/>
          <p:nvPr/>
        </p:nvSpPr>
        <p:spPr>
          <a:xfrm>
            <a:off x="5760720" y="3538728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One server or archive can be lost or made unavailable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2800" dirty="0"/>
          </a:p>
        </p:txBody>
      </p:sp>
      <p:sp>
        <p:nvSpPr>
          <p:cNvPr id="3" name="Objective card 1"/>
          <p:cNvSpPr/>
          <p:nvPr/>
        </p:nvSpPr>
        <p:spPr>
          <a:xfrm>
            <a:off x="45720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Objective 1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bjectiv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6501" y="1492301"/>
            <a:ext cx="307238" cy="307238"/>
          </a:xfrm>
          <a:prstGeom prst="rect">
            <a:avLst/>
          </a:prstGeom>
        </p:spPr>
      </p:pic>
      <p:sp>
        <p:nvSpPr>
          <p:cNvPr id="6" name="Objective 1 title"/>
          <p:cNvSpPr txBox="1"/>
          <p:nvPr/>
        </p:nvSpPr>
        <p:spPr>
          <a:xfrm>
            <a:off x="68580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Immutable records</a:t>
            </a:r>
            <a:endParaRPr lang="en-US" sz="1600" dirty="0"/>
          </a:p>
        </p:txBody>
      </p:sp>
      <p:sp>
        <p:nvSpPr>
          <p:cNvPr id="7" name="Objective 1 text"/>
          <p:cNvSpPr txBox="1"/>
          <p:nvPr/>
        </p:nvSpPr>
        <p:spPr>
          <a:xfrm>
            <a:off x="68580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Stored on Ethereum</a:t>
            </a:r>
            <a:endParaRPr lang="en-US" sz="1400" dirty="0"/>
          </a:p>
        </p:txBody>
      </p:sp>
      <p:sp>
        <p:nvSpPr>
          <p:cNvPr id="8" name="Objective card 2"/>
          <p:cNvSpPr/>
          <p:nvPr/>
        </p:nvSpPr>
        <p:spPr>
          <a:xfrm>
            <a:off x="324612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Objective 2 circle"/>
          <p:cNvSpPr/>
          <p:nvPr/>
        </p:nvSpPr>
        <p:spPr>
          <a:xfrm>
            <a:off x="347472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Objectiv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5421" y="1492301"/>
            <a:ext cx="307238" cy="307238"/>
          </a:xfrm>
          <a:prstGeom prst="rect">
            <a:avLst/>
          </a:prstGeom>
        </p:spPr>
      </p:pic>
      <p:sp>
        <p:nvSpPr>
          <p:cNvPr id="11" name="Objective 2 title"/>
          <p:cNvSpPr txBox="1"/>
          <p:nvPr/>
        </p:nvSpPr>
        <p:spPr>
          <a:xfrm>
            <a:off x="347472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Full history</a:t>
            </a:r>
            <a:endParaRPr lang="en-US" sz="1600" dirty="0"/>
          </a:p>
        </p:txBody>
      </p:sp>
      <p:sp>
        <p:nvSpPr>
          <p:cNvPr id="12" name="Objective 2 text"/>
          <p:cNvSpPr txBox="1"/>
          <p:nvPr/>
        </p:nvSpPr>
        <p:spPr>
          <a:xfrm>
            <a:off x="347472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Append-only owner timeline</a:t>
            </a:r>
            <a:endParaRPr lang="en-US" sz="1400" dirty="0"/>
          </a:p>
        </p:txBody>
      </p:sp>
      <p:sp>
        <p:nvSpPr>
          <p:cNvPr id="13" name="Objective card 3"/>
          <p:cNvSpPr/>
          <p:nvPr/>
        </p:nvSpPr>
        <p:spPr>
          <a:xfrm>
            <a:off x="6035040" y="114300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Objective 3 circle"/>
          <p:cNvSpPr/>
          <p:nvPr/>
        </p:nvSpPr>
        <p:spPr>
          <a:xfrm>
            <a:off x="6263640" y="13716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Objectiv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4341" y="1492301"/>
            <a:ext cx="307238" cy="307238"/>
          </a:xfrm>
          <a:prstGeom prst="rect">
            <a:avLst/>
          </a:prstGeom>
        </p:spPr>
      </p:pic>
      <p:sp>
        <p:nvSpPr>
          <p:cNvPr id="16" name="Objective 3 title"/>
          <p:cNvSpPr txBox="1"/>
          <p:nvPr/>
        </p:nvSpPr>
        <p:spPr>
          <a:xfrm>
            <a:off x="6263640" y="20116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Tamper detection</a:t>
            </a:r>
            <a:endParaRPr lang="en-US" sz="1600" dirty="0"/>
          </a:p>
        </p:txBody>
      </p:sp>
      <p:sp>
        <p:nvSpPr>
          <p:cNvPr id="17" name="Objective 3 text"/>
          <p:cNvSpPr txBox="1"/>
          <p:nvPr/>
        </p:nvSpPr>
        <p:spPr>
          <a:xfrm>
            <a:off x="6263640" y="23134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SHA-256 hash comparison</a:t>
            </a:r>
            <a:endParaRPr lang="en-US" sz="1400" dirty="0"/>
          </a:p>
        </p:txBody>
      </p:sp>
      <p:sp>
        <p:nvSpPr>
          <p:cNvPr id="18" name="Objective card 4"/>
          <p:cNvSpPr/>
          <p:nvPr/>
        </p:nvSpPr>
        <p:spPr>
          <a:xfrm>
            <a:off x="457200" y="288036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Objective 4 circle"/>
          <p:cNvSpPr/>
          <p:nvPr/>
        </p:nvSpPr>
        <p:spPr>
          <a:xfrm>
            <a:off x="68580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Objective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501" y="3229661"/>
            <a:ext cx="307238" cy="307238"/>
          </a:xfrm>
          <a:prstGeom prst="rect">
            <a:avLst/>
          </a:prstGeom>
        </p:spPr>
      </p:pic>
      <p:sp>
        <p:nvSpPr>
          <p:cNvPr id="21" name="Objective 4 title"/>
          <p:cNvSpPr txBox="1"/>
          <p:nvPr/>
        </p:nvSpPr>
        <p:spPr>
          <a:xfrm>
            <a:off x="68580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 storage</a:t>
            </a:r>
            <a:endParaRPr lang="en-US" sz="1600" dirty="0"/>
          </a:p>
        </p:txBody>
      </p:sp>
      <p:sp>
        <p:nvSpPr>
          <p:cNvPr id="22" name="Objective 4 text"/>
          <p:cNvSpPr txBox="1"/>
          <p:nvPr/>
        </p:nvSpPr>
        <p:spPr>
          <a:xfrm>
            <a:off x="68580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PDF deeds kept off-chain</a:t>
            </a:r>
            <a:endParaRPr lang="en-US" sz="1400" dirty="0"/>
          </a:p>
        </p:txBody>
      </p:sp>
      <p:sp>
        <p:nvSpPr>
          <p:cNvPr id="23" name="Objective card 5"/>
          <p:cNvSpPr/>
          <p:nvPr/>
        </p:nvSpPr>
        <p:spPr>
          <a:xfrm>
            <a:off x="3246120" y="288036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4" name="Objective 5 circle"/>
          <p:cNvSpPr/>
          <p:nvPr/>
        </p:nvSpPr>
        <p:spPr>
          <a:xfrm>
            <a:off x="347472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5" name="Objective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5421" y="3229661"/>
            <a:ext cx="307238" cy="307238"/>
          </a:xfrm>
          <a:prstGeom prst="rect">
            <a:avLst/>
          </a:prstGeom>
        </p:spPr>
      </p:pic>
      <p:sp>
        <p:nvSpPr>
          <p:cNvPr id="26" name="Objective 5 title"/>
          <p:cNvSpPr txBox="1"/>
          <p:nvPr/>
        </p:nvSpPr>
        <p:spPr>
          <a:xfrm>
            <a:off x="347472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Access control</a:t>
            </a:r>
            <a:endParaRPr lang="en-US" sz="1600" dirty="0"/>
          </a:p>
        </p:txBody>
      </p:sp>
      <p:sp>
        <p:nvSpPr>
          <p:cNvPr id="27" name="Objective 5 text"/>
          <p:cNvSpPr txBox="1"/>
          <p:nvPr/>
        </p:nvSpPr>
        <p:spPr>
          <a:xfrm>
            <a:off x="347472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JWT login for registrars</a:t>
            </a:r>
            <a:endParaRPr lang="en-US" sz="1400" dirty="0"/>
          </a:p>
        </p:txBody>
      </p:sp>
      <p:sp>
        <p:nvSpPr>
          <p:cNvPr id="28" name="Objective card 6"/>
          <p:cNvSpPr/>
          <p:nvPr/>
        </p:nvSpPr>
        <p:spPr>
          <a:xfrm>
            <a:off x="6035040" y="2880360"/>
            <a:ext cx="2606040" cy="1554480"/>
          </a:xfrm>
          <a:prstGeom prst="roundRect">
            <a:avLst>
              <a:gd name="adj" fmla="val 58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9" name="Objective 6 circle"/>
          <p:cNvSpPr/>
          <p:nvPr/>
        </p:nvSpPr>
        <p:spPr>
          <a:xfrm>
            <a:off x="6263640" y="310896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0" name="Objective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4341" y="3229661"/>
            <a:ext cx="307238" cy="307238"/>
          </a:xfrm>
          <a:prstGeom prst="rect">
            <a:avLst/>
          </a:prstGeom>
        </p:spPr>
      </p:pic>
      <p:sp>
        <p:nvSpPr>
          <p:cNvPr id="31" name="Objective 6 title"/>
          <p:cNvSpPr txBox="1"/>
          <p:nvPr/>
        </p:nvSpPr>
        <p:spPr>
          <a:xfrm>
            <a:off x="6263640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AWS deployment</a:t>
            </a:r>
            <a:endParaRPr lang="en-US" sz="1600" dirty="0"/>
          </a:p>
        </p:txBody>
      </p:sp>
      <p:sp>
        <p:nvSpPr>
          <p:cNvPr id="32" name="Objective 6 text"/>
          <p:cNvSpPr txBox="1"/>
          <p:nvPr/>
        </p:nvSpPr>
        <p:spPr>
          <a:xfrm>
            <a:off x="6263640" y="40507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Hosting, S3 and monitoring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800" dirty="0"/>
          </a:p>
        </p:txBody>
      </p:sp>
      <p:graphicFrame>
        <p:nvGraphicFramePr>
          <p:cNvPr id="5" name="Literature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00400"/>
                <a:gridCol w="2834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Key idea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we take from it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Nakamoto, 2008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Hash-linked append-only ledger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Immutability of records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Buterin / Wood, 2014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Ethereum smart contracts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Registry logic in Solidity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Lantmäteriet, Sweden, 2017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National land-transfer pilot on blockchain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Real-world value of on-chain history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Thakur et al., 2020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Blockchain land titling in India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Indian context, hash-on-chain design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Krishnapriya &amp; Sarath, 2020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Ethereum land registration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Register / transfer workflow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Benet, 2014 (IPFS)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Content-addressed off-chain storage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</a:rPr>
                        <a:t>Store files off-chain, hash on-chain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Gap note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Gap: most prototypes stop at the contract — no full web workflow with cloud storage and verification.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design: hash on-chain, file in the cloud</a:t>
            </a:r>
            <a:endParaRPr lang="en-US" sz="2800" dirty="0"/>
          </a:p>
        </p:txBody>
      </p:sp>
      <p:sp>
        <p:nvSpPr>
          <p:cNvPr id="3" name="On-chain column"/>
          <p:cNvSpPr/>
          <p:nvPr/>
        </p:nvSpPr>
        <p:spPr>
          <a:xfrm>
            <a:off x="45720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On-chain column circle"/>
          <p:cNvSpPr/>
          <p:nvPr/>
        </p:nvSpPr>
        <p:spPr>
          <a:xfrm>
            <a:off x="731520" y="132588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On-chain column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456639"/>
            <a:ext cx="332842" cy="332842"/>
          </a:xfrm>
          <a:prstGeom prst="rect">
            <a:avLst/>
          </a:prstGeom>
        </p:spPr>
      </p:pic>
      <p:sp>
        <p:nvSpPr>
          <p:cNvPr id="6" name="On-chain column heading"/>
          <p:cNvSpPr txBox="1"/>
          <p:nvPr/>
        </p:nvSpPr>
        <p:spPr>
          <a:xfrm>
            <a:off x="146304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On-chain (Ethereum)</a:t>
            </a:r>
            <a:endParaRPr lang="en-US" sz="2000" dirty="0"/>
          </a:p>
        </p:txBody>
      </p:sp>
      <p:sp>
        <p:nvSpPr>
          <p:cNvPr id="7" name="On-chain column list"/>
          <p:cNvSpPr txBox="1"/>
          <p:nvPr/>
        </p:nvSpPr>
        <p:spPr>
          <a:xfrm>
            <a:off x="73152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Land ID, owner, location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SHA-256 document hash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Block timestamp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Full ownership history[]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Immutable, publicly verifiable</a:t>
            </a:r>
            <a:endParaRPr lang="en-US" sz="1500" dirty="0"/>
          </a:p>
        </p:txBody>
      </p:sp>
      <p:sp>
        <p:nvSpPr>
          <p:cNvPr id="8" name="Off-chain column"/>
          <p:cNvSpPr/>
          <p:nvPr/>
        </p:nvSpPr>
        <p:spPr>
          <a:xfrm>
            <a:off x="4663440" y="1143000"/>
            <a:ext cx="4023360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Off-chain column circle"/>
          <p:cNvSpPr/>
          <p:nvPr/>
        </p:nvSpPr>
        <p:spPr>
          <a:xfrm>
            <a:off x="4937760" y="1325880"/>
            <a:ext cx="594360" cy="5943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0" name="Off-chain column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19" y="1456639"/>
            <a:ext cx="332842" cy="332842"/>
          </a:xfrm>
          <a:prstGeom prst="rect">
            <a:avLst/>
          </a:prstGeom>
        </p:spPr>
      </p:pic>
      <p:sp>
        <p:nvSpPr>
          <p:cNvPr id="11" name="Off-chain column heading"/>
          <p:cNvSpPr txBox="1"/>
          <p:nvPr/>
        </p:nvSpPr>
        <p:spPr>
          <a:xfrm>
            <a:off x="5669280" y="137160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Off-chain (Cloud)</a:t>
            </a:r>
            <a:endParaRPr lang="en-US" sz="2000" dirty="0"/>
          </a:p>
        </p:txBody>
      </p:sp>
      <p:sp>
        <p:nvSpPr>
          <p:cNvPr id="12" name="Off-chain column list"/>
          <p:cNvSpPr txBox="1"/>
          <p:nvPr/>
        </p:nvSpPr>
        <p:spPr>
          <a:xfrm>
            <a:off x="4937760" y="21031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Original PDF sale deeds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Cloudinary now → AWS S3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Registrar accounts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Cheap, scalable storage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2"/>
                </a:solidFill>
              </a:rPr>
              <a:t>Linked by hash + secure URL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pic>
        <p:nvPicPr>
          <p:cNvPr id="3" name="Architecture diagram" descr="/tmp/claude-0/-home-user-blockchain-land-registry/949538f0-59c8-5e11-adc4-08872eb7af3e/scratchpad/diag/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8229600" cy="338099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contract: LandRegistry.sol</a:t>
            </a:r>
            <a:endParaRPr lang="en-US" sz="2800" dirty="0"/>
          </a:p>
        </p:txBody>
      </p:sp>
      <p:pic>
        <p:nvPicPr>
          <p:cNvPr id="3" name="Contract data model" descr="/tmp/claude-0/-home-user-blockchain-land-registry/949538f0-59c8-5e11-adc4-08872eb7af3e/scratchpad/diag/contr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51560"/>
            <a:ext cx="8229600" cy="2743200"/>
          </a:xfrm>
          <a:prstGeom prst="rect">
            <a:avLst/>
          </a:prstGeom>
        </p:spPr>
      </p:pic>
      <p:sp>
        <p:nvSpPr>
          <p:cNvPr id="4" name="Contract notes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require() rules: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duplicate Land ID on register; Land ID must exist for transfer, history and verify. </a:t>
            </a:r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verifyHash() </a:t>
            </a:r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compares keccak256 of the stored and supplied hash — a free view 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Registration flow in five steps</a:t>
            </a:r>
            <a:endParaRPr lang="en-US" sz="2800" dirty="0"/>
          </a:p>
        </p:txBody>
      </p:sp>
      <p:sp>
        <p:nvSpPr>
          <p:cNvPr id="3" name="Step card 1"/>
          <p:cNvSpPr/>
          <p:nvPr/>
        </p:nvSpPr>
        <p:spPr>
          <a:xfrm>
            <a:off x="457200" y="1371600"/>
            <a:ext cx="1517904" cy="283464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tep 1 number"/>
          <p:cNvSpPr txBox="1"/>
          <p:nvPr/>
        </p:nvSpPr>
        <p:spPr>
          <a:xfrm>
            <a:off x="640080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5" name="Step 1 title"/>
          <p:cNvSpPr txBox="1"/>
          <p:nvPr/>
        </p:nvSpPr>
        <p:spPr>
          <a:xfrm>
            <a:off x="640080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Upload</a:t>
            </a:r>
            <a:endParaRPr lang="en-US" sz="1800" dirty="0"/>
          </a:p>
        </p:txBody>
      </p:sp>
      <p:sp>
        <p:nvSpPr>
          <p:cNvPr id="6" name="Step 1 text"/>
          <p:cNvSpPr txBox="1"/>
          <p:nvPr/>
        </p:nvSpPr>
        <p:spPr>
          <a:xfrm>
            <a:off x="640080" y="2651760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Registrar submits Land ID, owner, location and PDF (JWT)</a:t>
            </a:r>
            <a:endParaRPr lang="en-US" sz="1300" dirty="0"/>
          </a:p>
        </p:txBody>
      </p:sp>
      <p:sp>
        <p:nvSpPr>
          <p:cNvPr id="7" name="Step card 2"/>
          <p:cNvSpPr/>
          <p:nvPr/>
        </p:nvSpPr>
        <p:spPr>
          <a:xfrm>
            <a:off x="2139696" y="1371600"/>
            <a:ext cx="1517904" cy="283464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tep 2 number"/>
          <p:cNvSpPr txBox="1"/>
          <p:nvPr/>
        </p:nvSpPr>
        <p:spPr>
          <a:xfrm>
            <a:off x="2322576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9" name="Step 2 title"/>
          <p:cNvSpPr txBox="1"/>
          <p:nvPr/>
        </p:nvSpPr>
        <p:spPr>
          <a:xfrm>
            <a:off x="2322576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Validate</a:t>
            </a:r>
            <a:endParaRPr lang="en-US" sz="1800" dirty="0"/>
          </a:p>
        </p:txBody>
      </p:sp>
      <p:sp>
        <p:nvSpPr>
          <p:cNvPr id="10" name="Step 2 text"/>
          <p:cNvSpPr txBox="1"/>
          <p:nvPr/>
        </p:nvSpPr>
        <p:spPr>
          <a:xfrm>
            <a:off x="2322576" y="2651760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Multer: PDF only, ≤10 MB; landExists() duplicate check</a:t>
            </a:r>
            <a:endParaRPr lang="en-US" sz="1300" dirty="0"/>
          </a:p>
        </p:txBody>
      </p:sp>
      <p:sp>
        <p:nvSpPr>
          <p:cNvPr id="11" name="Step card 3"/>
          <p:cNvSpPr/>
          <p:nvPr/>
        </p:nvSpPr>
        <p:spPr>
          <a:xfrm>
            <a:off x="3822192" y="1371600"/>
            <a:ext cx="1517904" cy="283464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Step 3 number"/>
          <p:cNvSpPr txBox="1"/>
          <p:nvPr/>
        </p:nvSpPr>
        <p:spPr>
          <a:xfrm>
            <a:off x="4005072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Step 3 title"/>
          <p:cNvSpPr txBox="1"/>
          <p:nvPr/>
        </p:nvSpPr>
        <p:spPr>
          <a:xfrm>
            <a:off x="4005072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Hash</a:t>
            </a:r>
            <a:endParaRPr lang="en-US" sz="1800" dirty="0"/>
          </a:p>
        </p:txBody>
      </p:sp>
      <p:sp>
        <p:nvSpPr>
          <p:cNvPr id="14" name="Step 3 text"/>
          <p:cNvSpPr txBox="1"/>
          <p:nvPr/>
        </p:nvSpPr>
        <p:spPr>
          <a:xfrm>
            <a:off x="4005072" y="2651760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Server computes SHA-256 of the file bytes</a:t>
            </a:r>
            <a:endParaRPr lang="en-US" sz="1300" dirty="0"/>
          </a:p>
        </p:txBody>
      </p:sp>
      <p:sp>
        <p:nvSpPr>
          <p:cNvPr id="15" name="Step card 4"/>
          <p:cNvSpPr/>
          <p:nvPr/>
        </p:nvSpPr>
        <p:spPr>
          <a:xfrm>
            <a:off x="5504688" y="1371600"/>
            <a:ext cx="1517904" cy="2834640"/>
          </a:xfrm>
          <a:prstGeom prst="roundRect">
            <a:avLst>
              <a:gd name="adj" fmla="val 602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Step 4 number"/>
          <p:cNvSpPr txBox="1"/>
          <p:nvPr/>
        </p:nvSpPr>
        <p:spPr>
          <a:xfrm>
            <a:off x="5687568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7" name="Step 4 title"/>
          <p:cNvSpPr txBox="1"/>
          <p:nvPr/>
        </p:nvSpPr>
        <p:spPr>
          <a:xfrm>
            <a:off x="5687568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Store</a:t>
            </a:r>
            <a:endParaRPr lang="en-US" sz="1800" dirty="0"/>
          </a:p>
        </p:txBody>
      </p:sp>
      <p:sp>
        <p:nvSpPr>
          <p:cNvPr id="18" name="Step 4 text"/>
          <p:cNvSpPr txBox="1"/>
          <p:nvPr/>
        </p:nvSpPr>
        <p:spPr>
          <a:xfrm>
            <a:off x="5687568" y="2651760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PDF uploaded to cloud; secure URL returned</a:t>
            </a:r>
            <a:endParaRPr lang="en-US" sz="1300" dirty="0"/>
          </a:p>
        </p:txBody>
      </p:sp>
      <p:sp>
        <p:nvSpPr>
          <p:cNvPr id="19" name="Step card 5"/>
          <p:cNvSpPr/>
          <p:nvPr/>
        </p:nvSpPr>
        <p:spPr>
          <a:xfrm>
            <a:off x="7187184" y="1371600"/>
            <a:ext cx="1517904" cy="2834640"/>
          </a:xfrm>
          <a:prstGeom prst="roundRect">
            <a:avLst>
              <a:gd name="adj" fmla="val 6024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20" name="Step 5 number"/>
          <p:cNvSpPr txBox="1"/>
          <p:nvPr/>
        </p:nvSpPr>
        <p:spPr>
          <a:xfrm>
            <a:off x="7370064" y="15544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600" dirty="0"/>
          </a:p>
        </p:txBody>
      </p:sp>
      <p:sp>
        <p:nvSpPr>
          <p:cNvPr id="21" name="Step 5 title"/>
          <p:cNvSpPr txBox="1"/>
          <p:nvPr/>
        </p:nvSpPr>
        <p:spPr>
          <a:xfrm>
            <a:off x="7370064" y="2240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Record</a:t>
            </a:r>
            <a:endParaRPr lang="en-US" sz="1800" dirty="0"/>
          </a:p>
        </p:txBody>
      </p:sp>
      <p:sp>
        <p:nvSpPr>
          <p:cNvPr id="22" name="Step 5 text"/>
          <p:cNvSpPr txBox="1"/>
          <p:nvPr/>
        </p:nvSpPr>
        <p:spPr>
          <a:xfrm>
            <a:off x="7370064" y="2651760"/>
            <a:ext cx="120700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registerLand() tx mined; txHash sent to UI</a:t>
            </a:r>
            <a:endParaRPr lang="en-US" sz="1300" dirty="0"/>
          </a:p>
        </p:txBody>
      </p:sp>
      <p:sp>
        <p:nvSpPr>
          <p:cNvPr id="23" name="Flow note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Transfer uses the same path with transferOwnership(); the old record stays in history.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3" name="Stack row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tack 1 circle"/>
          <p:cNvSpPr/>
          <p:nvPr/>
        </p:nvSpPr>
        <p:spPr>
          <a:xfrm>
            <a:off x="640080" y="118872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5" name="Sta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309421"/>
            <a:ext cx="307238" cy="307238"/>
          </a:xfrm>
          <a:prstGeom prst="rect">
            <a:avLst/>
          </a:prstGeom>
        </p:spPr>
      </p:pic>
      <p:sp>
        <p:nvSpPr>
          <p:cNvPr id="6" name="Stack 1 title"/>
          <p:cNvSpPr txBox="1"/>
          <p:nvPr/>
        </p:nvSpPr>
        <p:spPr>
          <a:xfrm>
            <a:off x="1371600" y="1188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Blockchain</a:t>
            </a:r>
            <a:endParaRPr lang="en-US" sz="1800" dirty="0"/>
          </a:p>
        </p:txBody>
      </p:sp>
      <p:sp>
        <p:nvSpPr>
          <p:cNvPr id="7" name="Stack 1 text"/>
          <p:cNvSpPr txBox="1"/>
          <p:nvPr/>
        </p:nvSpPr>
        <p:spPr>
          <a:xfrm>
            <a:off x="3017520" y="11887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Solidity · Ganache · Hardhat · ethers.js v6 · MetaMask / Remix</a:t>
            </a:r>
            <a:endParaRPr lang="en-US" sz="1500" dirty="0"/>
          </a:p>
        </p:txBody>
      </p:sp>
      <p:sp>
        <p:nvSpPr>
          <p:cNvPr id="8" name="Stack row 2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tack 2 circle"/>
          <p:cNvSpPr/>
          <p:nvPr/>
        </p:nvSpPr>
        <p:spPr>
          <a:xfrm>
            <a:off x="640080" y="205740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0" name="Sta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81" y="2178101"/>
            <a:ext cx="307238" cy="307238"/>
          </a:xfrm>
          <a:prstGeom prst="rect">
            <a:avLst/>
          </a:prstGeom>
        </p:spPr>
      </p:pic>
      <p:sp>
        <p:nvSpPr>
          <p:cNvPr id="11" name="Stack 2 title"/>
          <p:cNvSpPr txBox="1"/>
          <p:nvPr/>
        </p:nvSpPr>
        <p:spPr>
          <a:xfrm>
            <a:off x="1371600" y="2057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Backend</a:t>
            </a:r>
            <a:endParaRPr lang="en-US" sz="1800" dirty="0"/>
          </a:p>
        </p:txBody>
      </p:sp>
      <p:sp>
        <p:nvSpPr>
          <p:cNvPr id="12" name="Stack 2 text"/>
          <p:cNvSpPr txBox="1"/>
          <p:nvPr/>
        </p:nvSpPr>
        <p:spPr>
          <a:xfrm>
            <a:off x="3017520" y="20574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Node.js 22 · Express 5 · Multer · crypto SHA-256 · bcrypt · JWT</a:t>
            </a:r>
            <a:endParaRPr lang="en-US" sz="1500" dirty="0"/>
          </a:p>
        </p:txBody>
      </p:sp>
      <p:sp>
        <p:nvSpPr>
          <p:cNvPr id="13" name="Stack row 3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tack 3 circle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15" name="Sta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781" y="3046781"/>
            <a:ext cx="307238" cy="307238"/>
          </a:xfrm>
          <a:prstGeom prst="rect">
            <a:avLst/>
          </a:prstGeom>
        </p:spPr>
      </p:pic>
      <p:sp>
        <p:nvSpPr>
          <p:cNvPr id="16" name="Stack 3 title"/>
          <p:cNvSpPr txBox="1"/>
          <p:nvPr/>
        </p:nvSpPr>
        <p:spPr>
          <a:xfrm>
            <a:off x="137160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Frontend</a:t>
            </a:r>
            <a:endParaRPr lang="en-US" sz="1800" dirty="0"/>
          </a:p>
        </p:txBody>
      </p:sp>
      <p:sp>
        <p:nvSpPr>
          <p:cNvPr id="17" name="Stack 3 text"/>
          <p:cNvSpPr txBox="1"/>
          <p:nvPr/>
        </p:nvSpPr>
        <p:spPr>
          <a:xfrm>
            <a:off x="301752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React 19 · Vite 8 · Axios</a:t>
            </a:r>
            <a:endParaRPr lang="en-US" sz="1500" dirty="0"/>
          </a:p>
        </p:txBody>
      </p:sp>
      <p:sp>
        <p:nvSpPr>
          <p:cNvPr id="18" name="Stack row 4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tack 4 circle"/>
          <p:cNvSpPr/>
          <p:nvPr/>
        </p:nvSpPr>
        <p:spPr>
          <a:xfrm>
            <a:off x="640080" y="3794760"/>
            <a:ext cx="548640" cy="548640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pic>
        <p:nvPicPr>
          <p:cNvPr id="20" name="Stack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3915461"/>
            <a:ext cx="307238" cy="307238"/>
          </a:xfrm>
          <a:prstGeom prst="rect">
            <a:avLst/>
          </a:prstGeom>
        </p:spPr>
      </p:pic>
      <p:sp>
        <p:nvSpPr>
          <p:cNvPr id="21" name="Stack 4 title"/>
          <p:cNvSpPr txBox="1"/>
          <p:nvPr/>
        </p:nvSpPr>
        <p:spPr>
          <a:xfrm>
            <a:off x="1371600" y="37947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Cloud</a:t>
            </a:r>
            <a:endParaRPr lang="en-US" sz="1800" dirty="0"/>
          </a:p>
        </p:txBody>
      </p:sp>
      <p:sp>
        <p:nvSpPr>
          <p:cNvPr id="22" name="Stack 4 text"/>
          <p:cNvSpPr txBox="1"/>
          <p:nvPr/>
        </p:nvSpPr>
        <p:spPr>
          <a:xfrm>
            <a:off x="3017520" y="3794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Cloudinary (current) · AWS S3, EC2, CloudWatch (final)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registering LAND101 on the blockchain</a:t>
            </a:r>
            <a:endParaRPr lang="en-US" sz="2800" dirty="0"/>
          </a:p>
        </p:txBody>
      </p:sp>
      <p:sp>
        <p:nvSpPr>
          <p:cNvPr id="3" name="Screenshot 1 frame"/>
          <p:cNvSpPr/>
          <p:nvPr/>
        </p:nvSpPr>
        <p:spPr>
          <a:xfrm>
            <a:off x="429768" y="1115568"/>
            <a:ext cx="4078224" cy="2783205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shot 1" descr="/tmp/claude-0/-home-user-blockchain-land-registry/949538f0-59c8-5e11-adc4-08872eb7af3e/scratchpad/crop/05_register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728341"/>
          </a:xfrm>
          <a:prstGeom prst="rect">
            <a:avLst/>
          </a:prstGeom>
        </p:spPr>
      </p:pic>
      <p:sp>
        <p:nvSpPr>
          <p:cNvPr id="5" name="Caption 1"/>
          <p:cNvSpPr txBox="1"/>
          <p:nvPr/>
        </p:nvSpPr>
        <p:spPr>
          <a:xfrm>
            <a:off x="45720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Registrar fills the form and attaches the sale deed</a:t>
            </a:r>
            <a:endParaRPr lang="en-US" sz="1200" dirty="0"/>
          </a:p>
        </p:txBody>
      </p:sp>
      <p:sp>
        <p:nvSpPr>
          <p:cNvPr id="6" name="Screenshot 2 frame"/>
          <p:cNvSpPr/>
          <p:nvPr/>
        </p:nvSpPr>
        <p:spPr>
          <a:xfrm>
            <a:off x="4897962" y="1115568"/>
            <a:ext cx="3554316" cy="302666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Screenshot 2" descr="/tmp/claude-0/-home-user-blockchain-land-registry/949538f0-59c8-5e11-adc4-08872eb7af3e/scratchpad/crop/06_register_suc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5394" y="1143000"/>
            <a:ext cx="3499452" cy="2971800"/>
          </a:xfrm>
          <a:prstGeom prst="rect">
            <a:avLst/>
          </a:prstGeom>
        </p:spPr>
      </p:pic>
      <p:sp>
        <p:nvSpPr>
          <p:cNvPr id="8" name="Caption 2"/>
          <p:cNvSpPr txBox="1"/>
          <p:nvPr/>
        </p:nvSpPr>
        <p:spPr>
          <a:xfrm>
            <a:off x="46634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Document hash and transaction hash returned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transfer keeps the full ownership history</a:t>
            </a:r>
            <a:endParaRPr lang="en-US" sz="2800" dirty="0"/>
          </a:p>
        </p:txBody>
      </p:sp>
      <p:sp>
        <p:nvSpPr>
          <p:cNvPr id="3" name="Screenshot 1 frame"/>
          <p:cNvSpPr/>
          <p:nvPr/>
        </p:nvSpPr>
        <p:spPr>
          <a:xfrm>
            <a:off x="677114" y="1115568"/>
            <a:ext cx="3583532" cy="3026664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shot 1" descr="/tmp/claude-0/-home-user-blockchain-land-registry/949538f0-59c8-5e11-adc4-08872eb7af3e/scratchpad/crop/10_transfer_suc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546" y="1143000"/>
            <a:ext cx="3528668" cy="2971800"/>
          </a:xfrm>
          <a:prstGeom prst="rect">
            <a:avLst/>
          </a:prstGeom>
        </p:spPr>
      </p:pic>
      <p:sp>
        <p:nvSpPr>
          <p:cNvPr id="5" name="Caption 1"/>
          <p:cNvSpPr txBox="1"/>
          <p:nvPr/>
        </p:nvSpPr>
        <p:spPr>
          <a:xfrm>
            <a:off x="45720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Ownership transferred to Priya Sharma</a:t>
            </a:r>
            <a:endParaRPr lang="en-US" sz="1200" dirty="0"/>
          </a:p>
        </p:txBody>
      </p:sp>
      <p:sp>
        <p:nvSpPr>
          <p:cNvPr id="6" name="Screenshot 2 frame"/>
          <p:cNvSpPr/>
          <p:nvPr/>
        </p:nvSpPr>
        <p:spPr>
          <a:xfrm>
            <a:off x="4636008" y="1115568"/>
            <a:ext cx="4078224" cy="2874359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Screenshot 2" descr="/tmp/claude-0/-home-user-blockchain-land-registry/949538f0-59c8-5e11-adc4-08872eb7af3e/scratchpad/crop/11_history_tw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2819495"/>
          </a:xfrm>
          <a:prstGeom prst="rect">
            <a:avLst/>
          </a:prstGeom>
        </p:spPr>
      </p:pic>
      <p:sp>
        <p:nvSpPr>
          <p:cNvPr id="8" name="Caption 2"/>
          <p:cNvSpPr txBox="1"/>
          <p:nvPr/>
        </p:nvSpPr>
        <p:spPr>
          <a:xfrm>
            <a:off x="46634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Timeline shows both owners with their deed hashes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Demo: one changed byte is caught instantly</a:t>
            </a:r>
            <a:endParaRPr lang="en-US" sz="2800" dirty="0"/>
          </a:p>
        </p:txBody>
      </p:sp>
      <p:sp>
        <p:nvSpPr>
          <p:cNvPr id="3" name="Screenshot 1 frame"/>
          <p:cNvSpPr/>
          <p:nvPr/>
        </p:nvSpPr>
        <p:spPr>
          <a:xfrm>
            <a:off x="429768" y="1115568"/>
            <a:ext cx="4078224" cy="22698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4" name="Screenshot 1" descr="/tmp/claude-0/-home-user-blockchain-land-registry/949538f0-59c8-5e11-adc4-08872eb7af3e/scratchpad/crop/12_verifi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43000"/>
            <a:ext cx="4023360" cy="2214944"/>
          </a:xfrm>
          <a:prstGeom prst="rect">
            <a:avLst/>
          </a:prstGeom>
        </p:spPr>
      </p:pic>
      <p:sp>
        <p:nvSpPr>
          <p:cNvPr id="5" name="Caption 1"/>
          <p:cNvSpPr txBox="1"/>
          <p:nvPr/>
        </p:nvSpPr>
        <p:spPr>
          <a:xfrm>
            <a:off x="45720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Genuine deed → DOCUMENT VERIFIED</a:t>
            </a:r>
            <a:endParaRPr lang="en-US" sz="1200" dirty="0"/>
          </a:p>
        </p:txBody>
      </p:sp>
      <p:sp>
        <p:nvSpPr>
          <p:cNvPr id="6" name="Screenshot 2 frame"/>
          <p:cNvSpPr/>
          <p:nvPr/>
        </p:nvSpPr>
        <p:spPr>
          <a:xfrm>
            <a:off x="4636008" y="1115568"/>
            <a:ext cx="4078224" cy="2269808"/>
          </a:xfrm>
          <a:prstGeom prst="rect">
            <a:avLst/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pic>
        <p:nvPicPr>
          <p:cNvPr id="7" name="Screenshot 2" descr="/tmp/claude-0/-home-user-blockchain-land-registry/949538f0-59c8-5e11-adc4-08872eb7af3e/scratchpad/crop/13_tamper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4023360" cy="2214944"/>
          </a:xfrm>
          <a:prstGeom prst="rect">
            <a:avLst/>
          </a:prstGeom>
        </p:spPr>
      </p:pic>
      <p:sp>
        <p:nvSpPr>
          <p:cNvPr id="8" name="Caption 2"/>
          <p:cNvSpPr txBox="1"/>
          <p:nvPr/>
        </p:nvSpPr>
        <p:spPr>
          <a:xfrm>
            <a:off x="4663440" y="4251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Edited buyer and amount → TAMPERED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Testing: 16 test cases, 100% tamper detection</a:t>
            </a:r>
            <a:endParaRPr lang="en-US" sz="2800" dirty="0"/>
          </a:p>
        </p:txBody>
      </p:sp>
      <p:sp>
        <p:nvSpPr>
          <p:cNvPr id="3" name="Stat card 1"/>
          <p:cNvSpPr/>
          <p:nvPr/>
        </p:nvSpPr>
        <p:spPr>
          <a:xfrm>
            <a:off x="457200" y="109728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tat 1 value"/>
          <p:cNvSpPr txBox="1"/>
          <p:nvPr/>
        </p:nvSpPr>
        <p:spPr>
          <a:xfrm>
            <a:off x="640080" y="1188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5" name="Stat 1 label"/>
          <p:cNvSpPr txBox="1"/>
          <p:nvPr/>
        </p:nvSpPr>
        <p:spPr>
          <a:xfrm>
            <a:off x="64008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16 test cases passed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246120" y="109728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Stat 2 value"/>
          <p:cNvSpPr txBox="1"/>
          <p:nvPr/>
        </p:nvSpPr>
        <p:spPr>
          <a:xfrm>
            <a:off x="3429000" y="1188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400" dirty="0"/>
          </a:p>
        </p:txBody>
      </p:sp>
      <p:sp>
        <p:nvSpPr>
          <p:cNvPr id="8" name="Stat 2 label"/>
          <p:cNvSpPr txBox="1"/>
          <p:nvPr/>
        </p:nvSpPr>
        <p:spPr>
          <a:xfrm>
            <a:off x="342900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tampered deeds detected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035040" y="1097280"/>
            <a:ext cx="2606040" cy="1417320"/>
          </a:xfrm>
          <a:prstGeom prst="roundRect">
            <a:avLst>
              <a:gd name="adj" fmla="val 645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Stat 3 value"/>
          <p:cNvSpPr txBox="1"/>
          <p:nvPr/>
        </p:nvSpPr>
        <p:spPr>
          <a:xfrm>
            <a:off x="6217920" y="118872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30/30</a:t>
            </a:r>
            <a:endParaRPr lang="en-US" sz="44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217920" y="1965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genuine deeds verified</a:t>
            </a:r>
            <a:endParaRPr lang="en-US" sz="1400" dirty="0"/>
          </a:p>
        </p:txBody>
      </p:sp>
      <p:sp>
        <p:nvSpPr>
          <p:cNvPr id="12" name="Issues heading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Found during testing — fixes planned</a:t>
            </a:r>
            <a:endParaRPr lang="en-US" sz="1600" dirty="0"/>
          </a:p>
        </p:txBody>
      </p:sp>
      <p:sp>
        <p:nvSpPr>
          <p:cNvPr id="13" name="Issues list"/>
          <p:cNvSpPr txBox="1"/>
          <p:nvPr/>
        </p:nvSpPr>
        <p:spPr>
          <a:xfrm>
            <a:off x="457200" y="3108960"/>
            <a:ext cx="822960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Request without a file returns HTTP 500 → return 400 "Document is required"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Unknown Land ID on history/verify returns 500 → check landExists() and return 404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Two writes within ~250 ms fail with "nonce too low" → use ethers NonceManager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Multer temp files remain in uploads/ → delete after hashing and upload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Performance: reads ~15 ms, writes ~115 ms</a:t>
            </a:r>
            <a:endParaRPr lang="en-US" sz="2800" dirty="0"/>
          </a:p>
        </p:txBody>
      </p:sp>
      <p:graphicFrame>
        <p:nvGraphicFramePr>
          <p:cNvPr id="3" name="Latency chart" descr=""/>
          <p:cNvGraphicFramePr/>
          <p:nvPr/>
        </p:nvGraphicFramePr>
        <p:xfrm>
          <a:off x="457200" y="1051560"/>
          <a:ext cx="51206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Gas card 1"/>
          <p:cNvSpPr/>
          <p:nvPr/>
        </p:nvSpPr>
        <p:spPr>
          <a:xfrm>
            <a:off x="5852160" y="1051560"/>
            <a:ext cx="283464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Gas 1 value"/>
          <p:cNvSpPr txBox="1"/>
          <p:nvPr/>
        </p:nvSpPr>
        <p:spPr>
          <a:xfrm>
            <a:off x="6035040" y="11430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0.37 M</a:t>
            </a:r>
            <a:endParaRPr lang="en-US" sz="3000" dirty="0"/>
          </a:p>
        </p:txBody>
      </p:sp>
      <p:sp>
        <p:nvSpPr>
          <p:cNvPr id="6" name="Gas 1 label"/>
          <p:cNvSpPr txBox="1"/>
          <p:nvPr/>
        </p:nvSpPr>
        <p:spPr>
          <a:xfrm>
            <a:off x="6035040" y="17099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gas per registerLand()</a:t>
            </a:r>
            <a:endParaRPr lang="en-US" sz="1300" dirty="0"/>
          </a:p>
        </p:txBody>
      </p:sp>
      <p:sp>
        <p:nvSpPr>
          <p:cNvPr id="7" name="Gas card 2"/>
          <p:cNvSpPr/>
          <p:nvPr/>
        </p:nvSpPr>
        <p:spPr>
          <a:xfrm>
            <a:off x="5852160" y="2258568"/>
            <a:ext cx="283464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Gas 2 value"/>
          <p:cNvSpPr txBox="1"/>
          <p:nvPr/>
        </p:nvSpPr>
        <p:spPr>
          <a:xfrm>
            <a:off x="6035040" y="235000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0.22 M</a:t>
            </a:r>
            <a:endParaRPr lang="en-US" sz="3000" dirty="0"/>
          </a:p>
        </p:txBody>
      </p:sp>
      <p:sp>
        <p:nvSpPr>
          <p:cNvPr id="9" name="Gas 2 label"/>
          <p:cNvSpPr txBox="1"/>
          <p:nvPr/>
        </p:nvSpPr>
        <p:spPr>
          <a:xfrm>
            <a:off x="6035040" y="29169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gas per transferOwnership()</a:t>
            </a:r>
            <a:endParaRPr lang="en-US" sz="1300" dirty="0"/>
          </a:p>
        </p:txBody>
      </p:sp>
      <p:sp>
        <p:nvSpPr>
          <p:cNvPr id="10" name="Gas card 3"/>
          <p:cNvSpPr/>
          <p:nvPr/>
        </p:nvSpPr>
        <p:spPr>
          <a:xfrm>
            <a:off x="5852160" y="3465576"/>
            <a:ext cx="2834640" cy="1078992"/>
          </a:xfrm>
          <a:prstGeom prst="roundRect">
            <a:avLst>
              <a:gd name="adj" fmla="val 847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Gas 3 value"/>
          <p:cNvSpPr txBox="1"/>
          <p:nvPr/>
        </p:nvSpPr>
        <p:spPr>
          <a:xfrm>
            <a:off x="6035040" y="3557016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1.43 M</a:t>
            </a:r>
            <a:endParaRPr lang="en-US" sz="3000" dirty="0"/>
          </a:p>
        </p:txBody>
      </p:sp>
      <p:sp>
        <p:nvSpPr>
          <p:cNvPr id="12" name="Gas 3 label"/>
          <p:cNvSpPr txBox="1"/>
          <p:nvPr/>
        </p:nvSpPr>
        <p:spPr>
          <a:xfrm>
            <a:off x="6035040" y="412394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gas to deploy (one-time)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phase: deploying on AWS</a:t>
            </a:r>
            <a:endParaRPr lang="en-US" sz="2800" dirty="0"/>
          </a:p>
        </p:txBody>
      </p:sp>
      <p:pic>
        <p:nvPicPr>
          <p:cNvPr id="3" name="AWS architecture diagram" descr="/tmp/claude-0/-home-user-blockchain-land-registry/949538f0-59c8-5e11-adc4-08872eb7af3e/scratchpad/diag/aw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486400" cy="2295144"/>
          </a:xfrm>
          <a:prstGeom prst="rect">
            <a:avLst/>
          </a:prstGeom>
        </p:spPr>
      </p:pic>
      <p:sp>
        <p:nvSpPr>
          <p:cNvPr id="4" name="AWS list"/>
          <p:cNvSpPr txBox="1"/>
          <p:nvPr/>
        </p:nvSpPr>
        <p:spPr>
          <a:xfrm>
            <a:off x="5943600" y="1188720"/>
            <a:ext cx="274320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S3 + CloudFront host the React build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EC2 / Elastic Beanstalk runs the Express API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Private S3 bucket stores deeds with versioning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RDS / DynamoDB replaces users.json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CloudWatch for logs and alarms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Contract on Sepolia testnet via MetaMask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A low-cost, transparent and tamper-evident land registry built from Ethereum smart contracts and cloud storage</a:t>
            </a:r>
            <a:endParaRPr lang="en-US" sz="1800" dirty="0"/>
          </a:p>
        </p:txBody>
      </p:sp>
      <p:pic>
        <p:nvPicPr>
          <p:cNvPr id="4" name="Conclusion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3520440"/>
            <a:ext cx="411480" cy="411480"/>
          </a:xfrm>
          <a:prstGeom prst="rect">
            <a:avLst/>
          </a:prstGeom>
        </p:spPr>
      </p:pic>
      <p:sp>
        <p:nvSpPr>
          <p:cNvPr id="5" name="Conclusion point 1"/>
          <p:cNvSpPr txBox="1"/>
          <p:nvPr/>
        </p:nvSpPr>
        <p:spPr>
          <a:xfrm>
            <a:off x="1097280" y="3429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Immutable owner history on Ethereum</a:t>
            </a:r>
            <a:endParaRPr lang="en-US" sz="1400" dirty="0"/>
          </a:p>
        </p:txBody>
      </p:sp>
      <p:pic>
        <p:nvPicPr>
          <p:cNvPr id="6" name="Conclusion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3520440"/>
            <a:ext cx="411480" cy="411480"/>
          </a:xfrm>
          <a:prstGeom prst="rect">
            <a:avLst/>
          </a:prstGeom>
        </p:spPr>
      </p:pic>
      <p:sp>
        <p:nvSpPr>
          <p:cNvPr id="7" name="Conclusion point 2"/>
          <p:cNvSpPr txBox="1"/>
          <p:nvPr/>
        </p:nvSpPr>
        <p:spPr>
          <a:xfrm>
            <a:off x="3840480" y="3429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Every tampered deed detected in tests</a:t>
            </a:r>
            <a:endParaRPr lang="en-US" sz="1400" dirty="0"/>
          </a:p>
        </p:txBody>
      </p:sp>
      <p:pic>
        <p:nvPicPr>
          <p:cNvPr id="8" name="Conclusion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3520440"/>
            <a:ext cx="411480" cy="411480"/>
          </a:xfrm>
          <a:prstGeom prst="rect">
            <a:avLst/>
          </a:prstGeom>
        </p:spPr>
      </p:pic>
      <p:sp>
        <p:nvSpPr>
          <p:cNvPr id="9" name="Conclusion point 3"/>
          <p:cNvSpPr txBox="1"/>
          <p:nvPr/>
        </p:nvSpPr>
        <p:spPr>
          <a:xfrm>
            <a:off x="6583680" y="342900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</a:rPr>
              <a:t>Under 0.5 M gas per write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Questions and live demo</a:t>
            </a:r>
            <a:endParaRPr lang="en-US" sz="1800" dirty="0"/>
          </a:p>
        </p:txBody>
      </p:sp>
      <p:sp>
        <p:nvSpPr>
          <p:cNvPr id="4" name="Repo link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github.com/adi-2602/blockchain-land-registry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ockCodeM Ledger">
  <a:themeElements>
    <a:clrScheme name="BlockCodeM Ledger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0F766E"/>
      </a:accent1>
      <a:accent2>
        <a:srgbClr val="F59E0B"/>
      </a:accent2>
      <a:accent3>
        <a:srgbClr val="1E3A8A"/>
      </a:accent3>
      <a:accent4>
        <a:srgbClr val="16A34A"/>
      </a:accent4>
      <a:accent5>
        <a:srgbClr val="DC2626"/>
      </a:accent5>
      <a:accent6>
        <a:srgbClr val="64748B"/>
      </a:accent6>
      <a:hlink>
        <a:srgbClr val="0F766E"/>
      </a:hlink>
      <a:folHlink>
        <a:srgbClr val="1E3A8A"/>
      </a:folHlink>
    </a:clrScheme>
    <a:fontScheme name="BlockCodeM Ledg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Blockchain-Based Land Registry System</dc:title>
  <dc:subject>PptxGenJS Presentation</dc:subject>
  <dc:creator>Team BlockCodeM</dc:creator>
  <cp:lastModifiedBy>Team BlockCodeM</cp:lastModifiedBy>
  <cp:revision>1</cp:revision>
  <dcterms:created xsi:type="dcterms:W3CDTF">2026-10-16T11:15:19Z</dcterms:created>
  <dcterms:modified xsi:type="dcterms:W3CDTF">2026-10-16T11:15:19Z</dcterms:modified>
</cp:coreProperties>
</file>